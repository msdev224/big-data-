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3" d="100"/>
          <a:sy n="93" d="100"/>
        </p:scale>
        <p:origin x="134" y="-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0520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" name="Shape 2"/>
          <p:cNvSpPr/>
          <p:nvPr/>
        </p:nvSpPr>
        <p:spPr>
          <a:xfrm>
            <a:off x="0" y="6080760"/>
            <a:ext cx="12188952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0" y="1645920"/>
            <a:ext cx="3200400" cy="3200400"/>
          </a:xfrm>
          <a:prstGeom prst="ellipse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0" y="2103120"/>
            <a:ext cx="1828800" cy="18288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0" y="21031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BOOKSHOP ANALYTICS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Big Data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bout en bout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73152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·  Airflow  ·  Snowflake  ·  dbt  ·  Streamlit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62407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Mamadou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Saidou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Bah</a:t>
            </a:r>
          </a:p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BOLLO KONDABEKA Jürgen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Fabien MFUAMBA KABASELE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 Big Data  ·  Avril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transactionnelle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331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PostgreSQL de la librairie est optimisée pour les opérations métier, pas pour l'analyse.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548640" cy="5486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291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Besoin analytique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749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Agrégats, historisation, croisements inter-tables : impossibles à tenir sur la base de production.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754880"/>
            <a:ext cx="548640" cy="5486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7091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Restitution métier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51663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équipes veulent des KPI accessibles sans requêter du SQL, mis à jour automatiquement.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6629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Bookshop Big Data · M2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38560" y="6629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OBJECTIFS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le projet livre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2057400"/>
          </a:xfrm>
          <a:prstGeom prst="roundRect">
            <a:avLst>
              <a:gd name="adj" fmla="val 4444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1168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automatisé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transformations et publication déclenchables en 1 clic ou programmables dans Airflow.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120640" cy="2057400"/>
          </a:xfrm>
          <a:prstGeom prst="roundRect">
            <a:avLst>
              <a:gd name="adj" fmla="val 4444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3524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cloud moderne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788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pour le stockage analytique, dbt pour des transformations SQL testées et documentées.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5120640" cy="2057400"/>
          </a:xfrm>
          <a:prstGeom prst="roundRect">
            <a:avLst>
              <a:gd name="adj" fmla="val 4444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389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011680" y="4434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Reproductibilité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5074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l'environnement dans Docker Compose : `make up` et l'infrastructure démarre.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4206240"/>
            <a:ext cx="5120640" cy="2057400"/>
          </a:xfrm>
          <a:prstGeom prst="roundRect">
            <a:avLst>
              <a:gd name="adj" fmla="val 4444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4389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635240" y="4434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9400" y="5074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structurés, tests dbt automatiques, CI GitHub Actions, dépannage documenté.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Bookshop Big Data · M2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38560" y="6629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 de bout en bout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OLTP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2971800" y="2697480"/>
            <a:ext cx="365760" cy="274320"/>
          </a:xfrm>
          <a:prstGeom prst="lin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210312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Airflow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unique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5623560" y="2697480"/>
            <a:ext cx="365760" cy="274320"/>
          </a:xfrm>
          <a:prstGeom prst="lin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210312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Snowflake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3504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schémas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8275320" y="2697480"/>
            <a:ext cx="365760" cy="274320"/>
          </a:xfrm>
          <a:prstGeom prst="lin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0312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tests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457200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4754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0" y="5212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0" y="3566160"/>
            <a:ext cx="0" cy="91440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Couches Snowflake : RAW → STAGING → WAREHOUSE → MARTS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6629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Bookshop Big Data · M2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338560" y="6629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STACK TECHNIQUE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retenues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transactionnelle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192024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192024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open-source, conteneurisé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1064240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8716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248716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2.10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24871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Python, LocalExecutor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110642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5409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cloud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305409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305409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30 jours, AWS eu-west-3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21024"/>
            <a:ext cx="11064240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62102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SQL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0" y="362102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dbt-core 1.9 + dbt-snowflake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362102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versionnés, tests auto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87952"/>
            <a:ext cx="110642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18795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0" y="418795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0" y="418795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Python interactive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754880"/>
            <a:ext cx="11064240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75488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97680" y="475488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services isolés, 1 commande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321808"/>
            <a:ext cx="110642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32180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Tests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97680" y="532180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+ pytest + ruff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0" y="532180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Lint, tests, dbt parse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6629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Bookshop Big Data · M2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38560" y="6629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SOURCE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PostgreSQL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tables transactionnelles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 — catégories de livres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books — catalogue (ISBN, prix catalogue)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customers — clients (nom, email, ville, pays)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factures — entêtes de factures (total, payé)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ventes — lignes (book_id, qte, pu)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enregistrements de démonstration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chargés automatiquement au démarrage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182880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snippet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0" y="219456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books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   SERIAL PRIMARY KEY,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category_id   INT REFERENCES category(id),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         VARCHAR(32) UNIQUE,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intitule      VARCHAR(255),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isbn_10       VARCHAR(10),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isbn_13       VARCHAR(13),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prix_catalogue NUMERIC(10,2)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ventes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 SERIAL PRIMARY KEY,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facture_id  INT REFERENCES factures(id),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book_id     INT REFERENCES books(id),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          NUMERIC(10,2),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qte         INT,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date_edit   TIMESTAMP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629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Bookshop Big Data · M2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629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ORCHESTRATION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 Airflow · bookshop_pipeline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create_bookshop_structures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194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la base BOOKSHOP + schémas + tables RAW via SQL Snowflake.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54480" y="28346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ingest_postgres_to_snowflake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les 5 tables Postgres, truncate RAW, insert ligne par ligne.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31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554480" y="3886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ensure_dbt_profile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 profiles.yml à partir du template si absent.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983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554480" y="49377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dbt_build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5349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 dbt build = run + test sur toutes les couches.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989320"/>
            <a:ext cx="109728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totale d'un run complet : ~35 secondes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6629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Bookshop Big Data · M2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38560" y="6629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TRANSFORMATIONS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dbt en 3 couches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0A162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47472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stg_books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stg_category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stg_customers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stg_factures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023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stg_ventes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577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Typage, renommage, colonnes normalisées.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182880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0A162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828800"/>
            <a:ext cx="347472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WAREHOUSE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34840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étoile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743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dim_books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3063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dim_category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dim_customers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3703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fact_ventes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4023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fact_factures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4343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fact_books_mois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4663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fact_books_annees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5577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+ faits, agrégats temporels.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321040" y="182880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0A1628"/>
          </a:solidFill>
          <a:ln w="25400">
            <a:solidFill>
              <a:srgbClr val="00C2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1828800"/>
            <a:ext cx="3474720" cy="7315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MARTS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321040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Table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95360" y="2743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obt_sales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95360" y="5577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dénormalisée prête pour le dashboard.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6629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Bookshop Big Data · M2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38560" y="6629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RESTITUTION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Streamlit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A162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factures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A162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920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83280" y="2560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catalogue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A162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920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2560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52560" y="18288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A162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1920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052560" y="2560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recouvrement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Visualisations Plotly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4023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Histogramme du chiffre d'affaires par mois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389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Camembert des ventes par livre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754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Barres des montants payés par client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120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Aperçu tabulaire de la OBT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98080" y="3566160"/>
            <a:ext cx="4114800" cy="2651760"/>
          </a:xfrm>
          <a:prstGeom prst="roundRect">
            <a:avLst>
              <a:gd name="adj" fmla="val 3448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80960" y="4023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Retry exponentiel (3 tentatives)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80960" y="4526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Timeouts configurables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680960" y="5029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Cache requête 5 min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80960" y="5532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Validation env vars au boot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6629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Bookshop Big Data · M2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38560" y="6629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QUALITÉ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&amp; Intégration Continue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4864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dbt (automatiques)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228600" cy="22860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not_null sur toutes les clés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228600" cy="22860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sur identifiants métier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749040"/>
            <a:ext cx="228600" cy="22860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entre dim/fact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251960"/>
            <a:ext cx="228600" cy="22860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Exécutés à chaque dbt build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754880"/>
            <a:ext cx="228600" cy="22860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Échec → DAG marqué failed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82880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828800"/>
            <a:ext cx="54864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GitHub Actions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83680" y="2743200"/>
            <a:ext cx="228600" cy="22860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check (lint Python)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0" y="3246120"/>
            <a:ext cx="228600" cy="22860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(tests DAG + dashboard)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0" y="3749040"/>
            <a:ext cx="228600" cy="22860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parse (validation SQL)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0" y="4251960"/>
            <a:ext cx="228600" cy="22860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Déclenché sur push + PR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0" y="4754880"/>
            <a:ext cx="228600" cy="22860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publics dans l'onglet Actions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6629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Bookshop Big Data · M2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338560" y="6629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DÉMO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Démonstration live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Scénario (≈ 3 minutes)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2606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0" y="26243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 4 services actifs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63040" y="3291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Airflow UI · localhost:8080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0" y="33101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DAG bookshop_pipeline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63040" y="3977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 DAG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98080" y="39959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tâches vertes successives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463040" y="4663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Snowsight · BOOKSHOP.MARTS.OBT_SALES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98080" y="46817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Données dénormalisées prêtes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3492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63040" y="5349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· localhost:8501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98080" y="53675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KPI + graphiques Plotly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Bookshop Big Data · M2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38560" y="6629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BILAN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a été livré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~800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code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8288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383280" y="2788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schémas Snowflake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8288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217920" y="2788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dbt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52560" y="18288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 s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9052560" y="2788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run complet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Points forts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480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Reproductible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up reconstruit tout en une commande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42062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4389120"/>
            <a:ext cx="548640" cy="5486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4480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Testé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17720" y="50292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dbt + pytest + CI GitHub Actions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42062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4389120"/>
            <a:ext cx="548640" cy="5486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44000" y="4480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Documenté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12480" y="50292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Snowflake / local / troubleshooting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6629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Bookshop Big Data · M2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338560" y="6629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PERSPECTIVES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Évolutions envisagées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 incrémentale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28800" y="217627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truncate/insert par une capture des changements (Debezium, Snowpipe Streaming).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974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26974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&amp; alerting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828800" y="304495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Airflow on_failure vers Sentry / Slack ; dashboards Grafana sur la fraîcheur des données.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66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356616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 production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828800" y="391363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Snowflake par clé RSA, secrets manager (Vault / AWS SSM), rotation automatique.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348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443484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Catalogue de données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828800" y="478231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docs publiées + intégration Datahub ou OpenMetadata pour la gouvernance.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30352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30352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0" y="53035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Airflow managé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828800" y="565099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vers MWAA ou Astronomer pour la haute disponibilité.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6629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Bookshop Big Data · M2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338560" y="6629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080760"/>
            <a:ext cx="12188952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1828800"/>
            <a:ext cx="2743200" cy="2743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2286000"/>
            <a:ext cx="1828800" cy="182880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0" y="2286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kern="0" spc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4274820"/>
            <a:ext cx="73152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Mamadou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Saidou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Bah</a:t>
            </a:r>
          </a:p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BOLLO KONDABEKA Jürgen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Fabien MFUAMBA KABASELE</a:t>
            </a:r>
          </a:p>
        </p:txBody>
      </p:sp>
      <p:sp>
        <p:nvSpPr>
          <p:cNvPr id="12" name="Text 10"/>
          <p:cNvSpPr/>
          <p:nvPr/>
        </p:nvSpPr>
        <p:spPr>
          <a:xfrm>
            <a:off x="731520" y="5074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 Big Data  ·  Avril 2026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5394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source : github.com/&lt;votre-user&gt;/bookshop-bigdata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1147</Words>
  <Application>Microsoft Office PowerPoint</Application>
  <PresentationFormat>Grand écran</PresentationFormat>
  <Paragraphs>283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M2 Big 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Bookshop Big Data</dc:title>
  <dc:subject>PptxGenJS Presentation</dc:subject>
  <dc:creator>Mamadou Saidou Bah</dc:creator>
  <cp:lastModifiedBy>jürgen BOLLO</cp:lastModifiedBy>
  <cp:revision>2</cp:revision>
  <dcterms:created xsi:type="dcterms:W3CDTF">2026-04-23T04:16:19Z</dcterms:created>
  <dcterms:modified xsi:type="dcterms:W3CDTF">2026-05-01T05:52:09Z</dcterms:modified>
</cp:coreProperties>
</file>